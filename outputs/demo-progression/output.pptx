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30d04e37f4e20" /><Relationship Type="http://schemas.openxmlformats.org/officeDocument/2006/relationships/extended-properties" Target="/docProps/app.xml" Id="Re86a22ad3b4440ba" /><Relationship Type="http://schemas.openxmlformats.org/officeDocument/2006/relationships/officeDocument" Target="/ppt/presentation.xml" Id="Rb4289f51b809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f50c995884208"/>
  </p:sldMasterIdLst>
  <p:notesMasterIdLst>
    <p:notesMasterId xmlns:r="http://schemas.openxmlformats.org/officeDocument/2006/relationships" r:id="Rc67d85ad5de1458e"/>
  </p:notesMasterIdLst>
  <p:sldIdLst>
    <p:sldId xmlns:r="http://schemas.openxmlformats.org/officeDocument/2006/relationships" id="256" r:id="Rcad4a280035c43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f50c995884208" /><Relationship Type="http://schemas.openxmlformats.org/officeDocument/2006/relationships/theme" Target="/ppt/theme/theme1.xml" Id="R97a48b0f54f4413d" /><Relationship Type="http://schemas.openxmlformats.org/officeDocument/2006/relationships/notesMaster" Target="/ppt/notesMasters/notesMaster1.xml" Id="Rc67d85ad5de1458e" /><Relationship Type="http://schemas.openxmlformats.org/officeDocument/2006/relationships/presProps" Target="/ppt/presProps.xml" Id="Rbb9c651cc0994743" /><Relationship Type="http://schemas.openxmlformats.org/officeDocument/2006/relationships/viewProps" Target="/ppt/viewProps.xml" Id="Ra67ce49d93174344" /><Relationship Type="http://schemas.openxmlformats.org/officeDocument/2006/relationships/tableStyles" Target="/ppt/tableStyles.xml" Id="R95d4703ab17f4cf1" /><Relationship Type="http://schemas.openxmlformats.org/officeDocument/2006/relationships/slide" Target="/ppt/slides/slide1.xml" Id="Rcad4a280035c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68296e567c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d5077536c4ed8" /><Relationship Type="http://schemas.openxmlformats.org/officeDocument/2006/relationships/notesMaster" Target="/ppt/notesMasters/notesMaster1.xml" Id="R3cb130749878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Emphasise that Excel remains a familiar operational backbone while the user experience becomes progressively more coordinated and polished.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b05e32dc9435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F8BA391-2FC8-47B5-9A67-9668F35556A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068C19-6EEA-472F-9C1B-F21FC1E30B6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A2632F-2E57-4ABD-8A2E-1891C1A708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C16FA7-9E52-4A23-86C8-FCDC1CE3A58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15C6A4-68BB-4E72-84AA-FA882B7EE18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7a79724ec041ea" /><Relationship Type="http://schemas.openxmlformats.org/officeDocument/2006/relationships/slideLayout" Target="/ppt/slideLayouts/slideLayout2.xml" Id="Rdb9368ff130746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198221-259A-4887-8E1A-FFD434F21BE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368ff130746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b2f2ddaa646e3" /><Relationship Type="http://schemas.openxmlformats.org/officeDocument/2006/relationships/notesSlide" Target="/ppt/notesSlides/notesSlide1.xml" Id="Re4ec08e3c80c41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15C6A4-68BB-4E72-84AA-FA882B7EE1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BD673-04D5-4FB1-A885-0E5D0303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7145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1B76-B2F3-4C15-9A56-58B05E5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533400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2A0D5-1CBA-4A72-8714-C55C8123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D9C8"/>
                </a:solidFill>
              </a:defRPr>
            </a:pPr>
            <a:r>
              <a:rPr sz="900" b="1">
                <a:solidFill>
                  <a:srgbClr val="63D9C8"/>
                </a:solidFill>
              </a:rPr>
              <a:t>THE EVOLUTION OF 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547CE-D483-4D23-9809-57B3287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From manual effort to an AI-powered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ABF11-AC98-4C8C-AC03-898626C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8DC"/>
                </a:solidFill>
              </a:defRPr>
            </a:pPr>
            <a:r>
              <a:rPr sz="1200" b="0">
                <a:solidFill>
                  <a:srgbClr val="B9C8DC"/>
                </a:solidFill>
              </a:rPr>
              <a:t>Each stage builds on the last — reducing friction while increasing coordination, usability and impact.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8C0D9-84F5-4191-853B-32948965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10287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68B6B-DF2F-498F-BA18-0BE9E6A7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10287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5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2B150-CD0D-4027-A2BC-25D3D3D2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385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02239"/>
          </a:solidFill>
          <a:ln xmlns:a="http://schemas.openxmlformats.org/drawingml/2006/main" w="11430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74982-2715-4347-9E6E-66C75D86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1474E-C47F-4820-BC00-5F76B42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B62"/>
                </a:solidFill>
              </a:defRPr>
            </a:pPr>
            <a:r>
              <a:rPr sz="1800" b="1">
                <a:solidFill>
                  <a:srgbClr val="F06B62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E4726-59E7-414C-A8D9-B6A3252D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62325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6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EE55E-A7B8-41A0-9A99-915A71D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194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220"/>
                </a:solidFill>
              </a:defRPr>
            </a:pPr>
            <a:r>
              <a:rPr sz="750" b="1">
                <a:solidFill>
                  <a:srgbClr val="0B1220"/>
                </a:solidFill>
              </a:rPr>
              <a:t>MANUAL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03796-4103-420E-BD70-1451714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19050">
            <a:solidFill>
              <a:srgbClr val="F06B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990BD-C41B-415E-BCA9-C20E12A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71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06B62"/>
                </a:solidFill>
              </a:defRPr>
            </a:pPr>
            <a:r>
              <a:rPr sz="2025" b="1">
                <a:solidFill>
                  <a:srgbClr val="F06B62"/>
                </a:solidFill>
              </a:rPr>
              <a:t>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D8123-C7C6-4D7B-8137-14B6245E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06B62"/>
                </a:solidFill>
              </a:defRPr>
            </a:pPr>
            <a:r>
              <a:rPr sz="675" b="1">
                <a:solidFill>
                  <a:srgbClr val="F06B62"/>
                </a:solidFill>
              </a:rPr>
              <a:t>FRUSTRATED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7A53A-74EE-4AB9-BA5D-CFC757A0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4288">
            <a:solidFill>
              <a:srgbClr val="F06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43D32-7B5E-46DF-9088-C667199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6B62"/>
                </a:solidFill>
              </a:defRPr>
            </a:pPr>
            <a:r>
              <a:rPr sz="1875" b="1">
                <a:solidFill>
                  <a:srgbClr val="F06B62"/>
                </a:solidFill>
              </a:rPr>
              <a:t>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C7D83-8EBE-4D12-B997-5896BCD9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Manual 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DD2EB-2E5D-47DD-9DE9-4DBAE15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1C611-55A3-45B5-9D52-00D92FD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Disconnected steps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Repetitive hand-offs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High effort, low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CB1F9-671A-4905-9527-8C4CD62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238500" cy="35433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239"/>
          </a:solidFill>
          <a:ln xmlns:a="http://schemas.openxmlformats.org/drawingml/2006/main" w="11430">
            <a:solidFill>
              <a:srgbClr val="2943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5B96F-CF00-4FE3-A555-DD9185D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B0AFE-32EA-48E4-B7CB-EFC6A1E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</a:defRPr>
            </a:pPr>
            <a:r>
              <a:rPr sz="1800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B193D-0F11-4DB8-92C2-58FB9AD6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28925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3DD74-B695-4376-AD40-F33C22C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860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220"/>
                </a:solidFill>
              </a:defRPr>
            </a:pPr>
            <a:r>
              <a:rPr sz="750" b="1">
                <a:solidFill>
                  <a:srgbClr val="0B1220"/>
                </a:solidFill>
              </a:rPr>
              <a:t>LOW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FA77C-5F7A-481A-89FD-16087E1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5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C1BE1-ECC7-4603-AAB4-EB90AF7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B84B"/>
                </a:solidFill>
              </a:defRPr>
            </a:pPr>
            <a:r>
              <a:rPr sz="2025" b="1">
                <a:solidFill>
                  <a:srgbClr val="F2B84B"/>
                </a:solidFill>
              </a:rPr>
              <a:t>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D2363-0ABB-481B-A924-334549D8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2B84B"/>
                </a:solidFill>
              </a:defRPr>
            </a:pPr>
            <a:r>
              <a:rPr sz="675" b="1">
                <a:solidFill>
                  <a:srgbClr val="F2B84B"/>
                </a:solidFill>
              </a:rPr>
              <a:t>HAPPY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FE6AF-F7CD-4F2A-AD8A-DAED3A8B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4288">
            <a:solidFill>
              <a:srgbClr val="F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10439-8247-40B6-9D00-DE52180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1FF3A5-5957-4A5F-800D-ACFFF1A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Excel + coordinated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6EA04-4871-4EFC-AD7E-68E2A9F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2762B9-7C57-4383-8FE0-F095F25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95850"/>
            <a:ext cx="2781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Familiar Excel workflow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Shared structure and controls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Faster, more consistent delivery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C8E170-7AC8-4A40-BE25-118077E9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238500" cy="40767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239"/>
          </a:solidFill>
          <a:ln xmlns:a="http://schemas.openxmlformats.org/drawingml/2006/main" w="11430">
            <a:solidFill>
              <a:srgbClr val="2943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25B66C-0342-4065-A9BC-3C2E8D2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ACE3A1-6357-47A8-A55C-781E682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D2B4"/>
                </a:solidFill>
              </a:defRPr>
            </a:pPr>
            <a:r>
              <a:rPr sz="1800" b="1">
                <a:solidFill>
                  <a:srgbClr val="35D2B4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8D714-445D-47E6-9771-6DDF052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4E4DDC-7B0D-4740-AD56-948D5BC7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526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220"/>
                </a:solidFill>
              </a:defRPr>
            </a:pPr>
            <a:r>
              <a:rPr sz="750" b="1">
                <a:solidFill>
                  <a:srgbClr val="0B1220"/>
                </a:solidFill>
              </a:rPr>
              <a:t>AI-POWERED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B42484-F2D0-457D-A5AE-22CB78B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CF8"/>
          </a:solidFill>
          <a:ln xmlns:a="http://schemas.openxmlformats.org/drawingml/2006/main" w="19050">
            <a:solidFill>
              <a:srgbClr val="35D2B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4E15EF-EDA3-41A2-9718-A3C2D1C5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050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D2B4"/>
                </a:solidFill>
              </a:defRPr>
            </a:pPr>
            <a:r>
              <a:rPr sz="2025" b="1">
                <a:solidFill>
                  <a:srgbClr val="35D2B4"/>
                </a:solidFill>
              </a:rPr>
              <a:t>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5EEC3-BB3F-4A45-BA58-7B2544F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5D2B4"/>
                </a:solidFill>
              </a:defRPr>
            </a:pPr>
            <a:r>
              <a:rPr sz="675" b="1">
                <a:solidFill>
                  <a:srgbClr val="35D2B4"/>
                </a:solidFill>
              </a:rPr>
              <a:t>HAPPIEST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34784-7400-4DE4-815C-528BF326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4288">
            <a:solidFill>
              <a:srgbClr val="35D2B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2603A9-38FB-45B1-86F0-0E23C399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5D2B4"/>
                </a:solidFill>
              </a:defRPr>
            </a:pPr>
            <a:r>
              <a:rPr sz="1875" b="1">
                <a:solidFill>
                  <a:srgbClr val="35D2B4"/>
                </a:solidFill>
              </a:rPr>
              <a:t>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3A327D-1444-4BCA-83E2-77CF5ED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AI-constructed website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35DD51-FE19-46ED-B99A-9D9BA3DE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3DF40-C7A9-4F24-B63D-52403590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2781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Polished web experience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Excel-powered backend</a:t>
            </a:r>
          </a:p>
          <a:p xmlns:a="http://schemas.openxmlformats.org/drawingml/2006/main">
            <a:pPr algn="l">
              <a:defRPr sz="1050" b="0">
                <a:solidFill>
                  <a:srgbClr val="C6D4E5"/>
                </a:solidFill>
              </a:defRPr>
            </a:pPr>
            <a:r>
              <a:rPr sz="1050" b="0">
                <a:solidFill>
                  <a:srgbClr val="C6D4E5"/>
                </a:solidFill>
              </a:rPr>
              <a:t>Rapid change without the friction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34E86C-546D-403C-82CF-886418D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4365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D9C8"/>
                </a:solidFill>
              </a:defRPr>
            </a:pPr>
            <a:r>
              <a:rPr sz="750" b="1">
                <a:solidFill>
                  <a:srgbClr val="63D9C8"/>
                </a:solidFill>
              </a:rPr>
              <a:t>MORE COORDINATED  •  MORE INTUITIVE  •  MORE IMPACTFUL</a:t>
            </a:r>
          </a:p>
        </p:txBody>
      </p:sp>
    </p:spTree>
    <p:extLst>
      <p:ext uri="{BB962C8B-B14F-4D97-AF65-F5344CB8AC3E}">
        <p14:creationId xmlns:p14="http://schemas.microsoft.com/office/powerpoint/2010/main" val="630239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2026-07-20T09:29:28.5190000Z</dcterms:created>
  <dcterms:modified xsi:type="dcterms:W3CDTF">2026-07-20T09:29:28.5190000Z</dcterms:modified>
</coreProperties>
</file>