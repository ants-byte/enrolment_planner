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97" d="100"/>
          <a:sy n="97" d="100"/>
        </p:scale>
        <p:origin x="103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right. Emphasise that Excel remains a familiar operational backbone while the user experience becomes progressively more coordinated and polished.</a:t>
            </a:r>
          </a:p>
          <a:p>
            <a:endParaRPr/>
          </a:p>
          <a:p>
            <a:r>
              <a:t>[Sources]</a:t>
            </a:r>
          </a:p>
          <a:p>
            <a:r>
              <a:t>- Concept supplied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F8BA391-2FC8-47B5-9A67-9668F35556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D068C19-6EEA-472F-9C1B-F21FC1E30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8A2632F-2E57-4ABD-8A2E-1891C1A708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78C16FA7-9E52-4A23-86C8-FCDC1CE3A58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F15C6A4-68BB-4E72-84AA-FA882B7EE1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1198221-259A-4887-8E1A-FFD434F21BE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7F15C6A4-68BB-4E72-84AA-FA882B7EE18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31596" y="977110"/>
            <a:ext cx="11193863" cy="2867082"/>
          </a:xfrm>
          <a:ln w="19050">
            <a:solidFill>
              <a:schemeClr val="bg1"/>
            </a:solidFill>
          </a:ln>
        </p:spPr>
        <p:txBody>
          <a:bodyPr/>
          <a:lstStyle/>
          <a:p>
            <a:endParaRPr sz="16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3FBD673-04D5-4FB1-A885-0E5D0303FBDC}"/>
              </a:ext>
            </a:extLst>
          </p:cNvPr>
          <p:cNvSpPr>
            <a:spLocks noGrp="1"/>
          </p:cNvSpPr>
          <p:nvPr/>
        </p:nvSpPr>
        <p:spPr>
          <a:xfrm>
            <a:off x="9525000" y="-1714500"/>
            <a:ext cx="4095750" cy="4095750"/>
          </a:xfrm>
          <a:prstGeom prst="ellipse">
            <a:avLst/>
          </a:prstGeom>
          <a:solidFill>
            <a:srgbClr val="182B4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44E1B76-B2F3-4C15-9A56-58B05E5C1820}"/>
              </a:ext>
            </a:extLst>
          </p:cNvPr>
          <p:cNvSpPr>
            <a:spLocks noGrp="1"/>
          </p:cNvSpPr>
          <p:nvPr/>
        </p:nvSpPr>
        <p:spPr>
          <a:xfrm>
            <a:off x="-1714500" y="5334000"/>
            <a:ext cx="4000500" cy="2476500"/>
          </a:xfrm>
          <a:prstGeom prst="ellipse">
            <a:avLst/>
          </a:prstGeom>
          <a:solidFill>
            <a:srgbClr val="17304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8547CE-D483-4D23-9809-57B3287360A1}"/>
              </a:ext>
            </a:extLst>
          </p:cNvPr>
          <p:cNvSpPr>
            <a:spLocks noGrp="1"/>
          </p:cNvSpPr>
          <p:nvPr/>
        </p:nvSpPr>
        <p:spPr>
          <a:xfrm>
            <a:off x="285750" y="461209"/>
            <a:ext cx="96202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550" b="1">
                <a:solidFill>
                  <a:srgbClr val="FFFFFF"/>
                </a:solidFill>
              </a:defRPr>
            </a:pPr>
            <a:r>
              <a:rPr lang="en-AU" sz="2550" b="1" dirty="0">
                <a:solidFill>
                  <a:srgbClr val="00B0F0"/>
                </a:solidFill>
              </a:rPr>
              <a:t>From</a:t>
            </a:r>
            <a:r>
              <a:rPr lang="en-AU" sz="2550" b="1" dirty="0"/>
              <a:t> errors &amp; frustration </a:t>
            </a:r>
            <a:r>
              <a:rPr lang="en-AU" sz="2550" b="1" dirty="0">
                <a:solidFill>
                  <a:srgbClr val="00B0F0"/>
                </a:solidFill>
              </a:rPr>
              <a:t>to</a:t>
            </a:r>
            <a:r>
              <a:rPr lang="en-AU" sz="2550" b="1" dirty="0"/>
              <a:t> insight &amp; control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FABF11-AC98-4C8C-AC03-898626C8BCB4}"/>
              </a:ext>
            </a:extLst>
          </p:cNvPr>
          <p:cNvSpPr>
            <a:spLocks noGrp="1"/>
          </p:cNvSpPr>
          <p:nvPr/>
        </p:nvSpPr>
        <p:spPr>
          <a:xfrm>
            <a:off x="796060" y="1187911"/>
            <a:ext cx="10139055" cy="13858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B9C8DC"/>
                </a:solidFill>
              </a:defRPr>
            </a:pPr>
            <a:r>
              <a:rPr lang="en-AU" sz="2000" dirty="0">
                <a:solidFill>
                  <a:srgbClr val="B9C8DC"/>
                </a:solidFill>
              </a:rPr>
              <a:t>8 years of development in own time, under own initiative.  Each semester building on the last – </a:t>
            </a:r>
            <a:r>
              <a:rPr sz="2000" dirty="0">
                <a:solidFill>
                  <a:srgbClr val="B9C8DC"/>
                </a:solidFill>
              </a:rPr>
              <a:t>increasing coordination, usability and impact.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FF8C0D9-84F5-4191-853B-329489658F48}"/>
              </a:ext>
            </a:extLst>
          </p:cNvPr>
          <p:cNvSpPr>
            <a:spLocks noGrp="1"/>
          </p:cNvSpPr>
          <p:nvPr/>
        </p:nvSpPr>
        <p:spPr>
          <a:xfrm>
            <a:off x="3619916" y="3610595"/>
            <a:ext cx="742950" cy="4572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 w="3175">
            <a:solidFill>
              <a:schemeClr val="bg1">
                <a:lumMod val="95000"/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BA68B6B-DF2F-498F-BA18-0BE9E6A7A0C8}"/>
              </a:ext>
            </a:extLst>
          </p:cNvPr>
          <p:cNvSpPr>
            <a:spLocks noGrp="1"/>
          </p:cNvSpPr>
          <p:nvPr/>
        </p:nvSpPr>
        <p:spPr>
          <a:xfrm>
            <a:off x="7295175" y="3612982"/>
            <a:ext cx="742950" cy="4572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22B150-CD0D-4027-A2BC-25D3D3D2D26B}"/>
              </a:ext>
            </a:extLst>
          </p:cNvPr>
          <p:cNvSpPr>
            <a:spLocks noGrp="1"/>
          </p:cNvSpPr>
          <p:nvPr/>
        </p:nvSpPr>
        <p:spPr>
          <a:xfrm>
            <a:off x="659840" y="3165953"/>
            <a:ext cx="3238500" cy="3009900"/>
          </a:xfrm>
          <a:prstGeom prst="roundRect">
            <a:avLst>
              <a:gd name="adj" fmla="val 2532"/>
            </a:avLst>
          </a:prstGeom>
          <a:solidFill>
            <a:srgbClr val="102239"/>
          </a:solidFill>
          <a:ln w="11430">
            <a:solidFill>
              <a:srgbClr val="29435F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074982-2715-4347-9E6E-66C75D869D63}"/>
              </a:ext>
            </a:extLst>
          </p:cNvPr>
          <p:cNvSpPr>
            <a:spLocks noGrp="1"/>
          </p:cNvSpPr>
          <p:nvPr/>
        </p:nvSpPr>
        <p:spPr>
          <a:xfrm>
            <a:off x="659840" y="3165953"/>
            <a:ext cx="3238500" cy="76200"/>
          </a:xfrm>
          <a:prstGeom prst="rect">
            <a:avLst/>
          </a:prstGeom>
          <a:solidFill>
            <a:srgbClr val="F06B6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71474E-C47F-4820-BC00-5F76B424E556}"/>
              </a:ext>
            </a:extLst>
          </p:cNvPr>
          <p:cNvSpPr>
            <a:spLocks noGrp="1"/>
          </p:cNvSpPr>
          <p:nvPr/>
        </p:nvSpPr>
        <p:spPr>
          <a:xfrm>
            <a:off x="869390" y="3394553"/>
            <a:ext cx="419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06B62"/>
                </a:solidFill>
              </a:defRPr>
            </a:pPr>
            <a:r>
              <a:rPr sz="2400" b="1">
                <a:solidFill>
                  <a:srgbClr val="F06B62"/>
                </a:solidFill>
              </a:rPr>
              <a:t>01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CCE4726-59E7-414C-A8D9-B6A3252D83D6}"/>
              </a:ext>
            </a:extLst>
          </p:cNvPr>
          <p:cNvSpPr>
            <a:spLocks noGrp="1"/>
          </p:cNvSpPr>
          <p:nvPr/>
        </p:nvSpPr>
        <p:spPr>
          <a:xfrm>
            <a:off x="1345640" y="3423128"/>
            <a:ext cx="1066800" cy="266700"/>
          </a:xfrm>
          <a:prstGeom prst="roundRect">
            <a:avLst>
              <a:gd name="adj" fmla="val 28571"/>
            </a:avLst>
          </a:prstGeom>
          <a:solidFill>
            <a:srgbClr val="F06B6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FEE55E-A7B8-41A0-9A99-915A71D60E7F}"/>
              </a:ext>
            </a:extLst>
          </p:cNvPr>
          <p:cNvSpPr>
            <a:spLocks noGrp="1"/>
          </p:cNvSpPr>
          <p:nvPr/>
        </p:nvSpPr>
        <p:spPr>
          <a:xfrm>
            <a:off x="1440890" y="3442174"/>
            <a:ext cx="8763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B1220"/>
                </a:solidFill>
              </a:defRPr>
            </a:pPr>
            <a:r>
              <a:rPr lang="en-AU" sz="1600" b="1" dirty="0">
                <a:solidFill>
                  <a:schemeClr val="bg1"/>
                </a:solidFill>
              </a:rPr>
              <a:t>Manual</a:t>
            </a:r>
            <a:endParaRPr sz="1600" b="1" dirty="0">
              <a:solidFill>
                <a:schemeClr val="bg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03796-4103-420E-BD70-1451714F420E}"/>
              </a:ext>
            </a:extLst>
          </p:cNvPr>
          <p:cNvSpPr>
            <a:spLocks noGrp="1"/>
          </p:cNvSpPr>
          <p:nvPr/>
        </p:nvSpPr>
        <p:spPr>
          <a:xfrm>
            <a:off x="3117290" y="3356453"/>
            <a:ext cx="552450" cy="552450"/>
          </a:xfrm>
          <a:prstGeom prst="ellipse">
            <a:avLst/>
          </a:prstGeom>
          <a:solidFill>
            <a:srgbClr val="FFF0EE"/>
          </a:solidFill>
          <a:ln w="19050">
            <a:solidFill>
              <a:srgbClr val="F06B62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4990BD-C41B-415E-BCA9-C20E12AB6082}"/>
              </a:ext>
            </a:extLst>
          </p:cNvPr>
          <p:cNvSpPr>
            <a:spLocks noGrp="1"/>
          </p:cNvSpPr>
          <p:nvPr/>
        </p:nvSpPr>
        <p:spPr>
          <a:xfrm>
            <a:off x="3203015" y="3462797"/>
            <a:ext cx="381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F06B62"/>
                </a:solidFill>
              </a:defRPr>
            </a:pPr>
            <a:r>
              <a:rPr sz="2800" b="1" dirty="0">
                <a:solidFill>
                  <a:srgbClr val="F06B62"/>
                </a:solidFill>
              </a:rPr>
              <a:t>☹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FD8123-C7C6-4D7B-8137-14B6245EF6B3}"/>
              </a:ext>
            </a:extLst>
          </p:cNvPr>
          <p:cNvSpPr>
            <a:spLocks noGrp="1"/>
          </p:cNvSpPr>
          <p:nvPr/>
        </p:nvSpPr>
        <p:spPr>
          <a:xfrm>
            <a:off x="2964890" y="3977146"/>
            <a:ext cx="857250" cy="3826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1">
                <a:solidFill>
                  <a:srgbClr val="F06B62"/>
                </a:solidFill>
              </a:defRPr>
            </a:pPr>
            <a:r>
              <a:rPr sz="1200" b="1" dirty="0">
                <a:solidFill>
                  <a:srgbClr val="F06B62"/>
                </a:solidFill>
              </a:rPr>
              <a:t>FRUSTRATED</a:t>
            </a:r>
            <a:r>
              <a:rPr lang="en-AU" sz="1200" b="1" dirty="0">
                <a:solidFill>
                  <a:srgbClr val="F06B62"/>
                </a:solidFill>
              </a:rPr>
              <a:t>, LOW TRUST</a:t>
            </a:r>
            <a:endParaRPr sz="1200" b="1" dirty="0">
              <a:solidFill>
                <a:srgbClr val="F06B62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207A53A-74EE-4AB9-BA5D-CFC757A0D41E}"/>
              </a:ext>
            </a:extLst>
          </p:cNvPr>
          <p:cNvSpPr>
            <a:spLocks noGrp="1"/>
          </p:cNvSpPr>
          <p:nvPr/>
        </p:nvSpPr>
        <p:spPr>
          <a:xfrm>
            <a:off x="869390" y="3985103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071827"/>
          </a:solidFill>
          <a:ln w="14288">
            <a:solidFill>
              <a:srgbClr val="F06B62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343D32-7B5E-46DF-9088-C667199A35CD}"/>
              </a:ext>
            </a:extLst>
          </p:cNvPr>
          <p:cNvSpPr>
            <a:spLocks noGrp="1"/>
          </p:cNvSpPr>
          <p:nvPr/>
        </p:nvSpPr>
        <p:spPr>
          <a:xfrm>
            <a:off x="964640" y="4080353"/>
            <a:ext cx="3238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F06B62"/>
                </a:solidFill>
              </a:defRPr>
            </a:pPr>
            <a:r>
              <a:rPr sz="2400" b="1">
                <a:solidFill>
                  <a:srgbClr val="F06B62"/>
                </a:solidFill>
              </a:rPr>
              <a:t>↻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6C7D83-8EBE-4D12-B997-5896BCD92023}"/>
              </a:ext>
            </a:extLst>
          </p:cNvPr>
          <p:cNvSpPr>
            <a:spLocks noGrp="1"/>
          </p:cNvSpPr>
          <p:nvPr/>
        </p:nvSpPr>
        <p:spPr>
          <a:xfrm>
            <a:off x="869390" y="4632803"/>
            <a:ext cx="27813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b="1" dirty="0">
                <a:solidFill>
                  <a:srgbClr val="FFFFFF"/>
                </a:solidFill>
              </a:rPr>
              <a:t>Manual process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9DD2EB-2E5D-47DD-9DE9-4DBAE152A3A4}"/>
              </a:ext>
            </a:extLst>
          </p:cNvPr>
          <p:cNvSpPr>
            <a:spLocks noGrp="1"/>
          </p:cNvSpPr>
          <p:nvPr/>
        </p:nvSpPr>
        <p:spPr>
          <a:xfrm>
            <a:off x="869390" y="5055006"/>
            <a:ext cx="514350" cy="28575"/>
          </a:xfrm>
          <a:prstGeom prst="rect">
            <a:avLst/>
          </a:prstGeom>
          <a:solidFill>
            <a:srgbClr val="F06B6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E1C611-55A3-45B5-9D52-00D92FD74FD4}"/>
              </a:ext>
            </a:extLst>
          </p:cNvPr>
          <p:cNvSpPr>
            <a:spLocks noGrp="1"/>
          </p:cNvSpPr>
          <p:nvPr/>
        </p:nvSpPr>
        <p:spPr>
          <a:xfrm>
            <a:off x="869390" y="5169311"/>
            <a:ext cx="27813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sz="1600" b="0" dirty="0">
                <a:solidFill>
                  <a:srgbClr val="C6D4E5"/>
                </a:solidFill>
              </a:rPr>
              <a:t>Disconnected steps</a:t>
            </a:r>
          </a:p>
          <a:p>
            <a:pPr algn="l"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Enrolment errors common</a:t>
            </a:r>
            <a:endParaRPr sz="1600" b="0" dirty="0">
              <a:solidFill>
                <a:srgbClr val="C6D4E5"/>
              </a:solidFill>
            </a:endParaRPr>
          </a:p>
          <a:p>
            <a:pPr algn="l"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sz="1600" b="0" dirty="0">
                <a:solidFill>
                  <a:srgbClr val="C6D4E5"/>
                </a:solidFill>
              </a:rPr>
              <a:t>High effort, low visibility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ACB1F9-671A-4905-9527-8C4CD6258B7F}"/>
              </a:ext>
            </a:extLst>
          </p:cNvPr>
          <p:cNvSpPr>
            <a:spLocks noGrp="1"/>
          </p:cNvSpPr>
          <p:nvPr/>
        </p:nvSpPr>
        <p:spPr>
          <a:xfrm>
            <a:off x="4362866" y="2632553"/>
            <a:ext cx="3238500" cy="3543300"/>
          </a:xfrm>
          <a:prstGeom prst="roundRect">
            <a:avLst>
              <a:gd name="adj" fmla="val 2353"/>
            </a:avLst>
          </a:prstGeom>
          <a:solidFill>
            <a:srgbClr val="102239"/>
          </a:solidFill>
          <a:ln w="11430">
            <a:solidFill>
              <a:srgbClr val="29435F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E5B96F-CF00-4FE3-A555-DD9185D6219B}"/>
              </a:ext>
            </a:extLst>
          </p:cNvPr>
          <p:cNvSpPr>
            <a:spLocks noGrp="1"/>
          </p:cNvSpPr>
          <p:nvPr/>
        </p:nvSpPr>
        <p:spPr>
          <a:xfrm>
            <a:off x="4362866" y="2632553"/>
            <a:ext cx="3238500" cy="76200"/>
          </a:xfrm>
          <a:prstGeom prst="rect">
            <a:avLst/>
          </a:prstGeom>
          <a:solidFill>
            <a:srgbClr val="F2B84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DB0AFE-32EA-48E4-B7CB-EFC6A1E95E73}"/>
              </a:ext>
            </a:extLst>
          </p:cNvPr>
          <p:cNvSpPr>
            <a:spLocks noGrp="1"/>
          </p:cNvSpPr>
          <p:nvPr/>
        </p:nvSpPr>
        <p:spPr>
          <a:xfrm>
            <a:off x="4572416" y="2861153"/>
            <a:ext cx="419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2B84B"/>
                </a:solidFill>
              </a:defRPr>
            </a:pPr>
            <a:r>
              <a:rPr sz="2400" b="1">
                <a:solidFill>
                  <a:srgbClr val="F2B84B"/>
                </a:solidFill>
              </a:rPr>
              <a:t>02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93B193D-0F11-4DB8-92C2-58FB9AD69A8B}"/>
              </a:ext>
            </a:extLst>
          </p:cNvPr>
          <p:cNvSpPr>
            <a:spLocks noGrp="1"/>
          </p:cNvSpPr>
          <p:nvPr/>
        </p:nvSpPr>
        <p:spPr>
          <a:xfrm>
            <a:off x="5048666" y="2889728"/>
            <a:ext cx="1066800" cy="266700"/>
          </a:xfrm>
          <a:prstGeom prst="roundRect">
            <a:avLst>
              <a:gd name="adj" fmla="val 28571"/>
            </a:avLst>
          </a:prstGeom>
          <a:solidFill>
            <a:srgbClr val="F2B84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943DD74-B695-4376-AD40-F33C22C4C5A9}"/>
              </a:ext>
            </a:extLst>
          </p:cNvPr>
          <p:cNvSpPr>
            <a:spLocks noGrp="1"/>
          </p:cNvSpPr>
          <p:nvPr/>
        </p:nvSpPr>
        <p:spPr>
          <a:xfrm>
            <a:off x="5124866" y="2908778"/>
            <a:ext cx="928688" cy="180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B1220"/>
                </a:solidFill>
              </a:defRPr>
            </a:pPr>
            <a:r>
              <a:rPr lang="en-AU" sz="1600" b="1" dirty="0">
                <a:solidFill>
                  <a:srgbClr val="0B1220"/>
                </a:solidFill>
              </a:rPr>
              <a:t>Low Code</a:t>
            </a:r>
            <a:endParaRPr sz="1600" b="1" dirty="0">
              <a:solidFill>
                <a:srgbClr val="0B1220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FCFA77C-5F7A-481A-89FD-16087E120A64}"/>
              </a:ext>
            </a:extLst>
          </p:cNvPr>
          <p:cNvSpPr>
            <a:spLocks noGrp="1"/>
          </p:cNvSpPr>
          <p:nvPr/>
        </p:nvSpPr>
        <p:spPr>
          <a:xfrm>
            <a:off x="6820316" y="2823053"/>
            <a:ext cx="552450" cy="552450"/>
          </a:xfrm>
          <a:prstGeom prst="ellipse">
            <a:avLst/>
          </a:prstGeom>
          <a:solidFill>
            <a:srgbClr val="FFF7E5"/>
          </a:solidFill>
          <a:ln w="1905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70C1BE1-ECC7-4603-AAB4-EB90AF74E1E4}"/>
              </a:ext>
            </a:extLst>
          </p:cNvPr>
          <p:cNvSpPr>
            <a:spLocks noGrp="1"/>
          </p:cNvSpPr>
          <p:nvPr/>
        </p:nvSpPr>
        <p:spPr>
          <a:xfrm>
            <a:off x="6906041" y="2889205"/>
            <a:ext cx="381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F2B84B"/>
                </a:solidFill>
              </a:defRPr>
            </a:pPr>
            <a:r>
              <a:rPr sz="2800" b="1" dirty="0">
                <a:solidFill>
                  <a:srgbClr val="F2B84B"/>
                </a:solidFill>
              </a:rPr>
              <a:t>☺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4D2363-0ABB-481B-A924-334549D80B67}"/>
              </a:ext>
            </a:extLst>
          </p:cNvPr>
          <p:cNvSpPr>
            <a:spLocks noGrp="1"/>
          </p:cNvSpPr>
          <p:nvPr/>
        </p:nvSpPr>
        <p:spPr>
          <a:xfrm>
            <a:off x="6667916" y="3443747"/>
            <a:ext cx="857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1">
                <a:solidFill>
                  <a:srgbClr val="F2B84B"/>
                </a:solidFill>
              </a:defRPr>
            </a:pPr>
            <a:r>
              <a:rPr sz="1400" b="1" dirty="0">
                <a:solidFill>
                  <a:srgbClr val="F2B84B"/>
                </a:solidFill>
              </a:rPr>
              <a:t>HAPPY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C0FE6AF-F7CD-4F2A-AD8A-DAED3A8BC6E5}"/>
              </a:ext>
            </a:extLst>
          </p:cNvPr>
          <p:cNvSpPr>
            <a:spLocks noGrp="1"/>
          </p:cNvSpPr>
          <p:nvPr/>
        </p:nvSpPr>
        <p:spPr>
          <a:xfrm>
            <a:off x="4572416" y="3451703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071827"/>
          </a:solidFill>
          <a:ln w="14288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A10439-8247-40B6-9D00-DE5218019D09}"/>
              </a:ext>
            </a:extLst>
          </p:cNvPr>
          <p:cNvSpPr>
            <a:spLocks noGrp="1"/>
          </p:cNvSpPr>
          <p:nvPr/>
        </p:nvSpPr>
        <p:spPr>
          <a:xfrm>
            <a:off x="4667666" y="3546953"/>
            <a:ext cx="3238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F2B84B"/>
                </a:solidFill>
              </a:defRPr>
            </a:pPr>
            <a:r>
              <a:rPr sz="2400" b="1">
                <a:solidFill>
                  <a:srgbClr val="F2B84B"/>
                </a:solidFill>
              </a:rPr>
              <a:t>▦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61FF3A5-5957-4A5F-800D-ACFFF1A6C31A}"/>
              </a:ext>
            </a:extLst>
          </p:cNvPr>
          <p:cNvSpPr>
            <a:spLocks noGrp="1"/>
          </p:cNvSpPr>
          <p:nvPr/>
        </p:nvSpPr>
        <p:spPr>
          <a:xfrm>
            <a:off x="4572416" y="4099403"/>
            <a:ext cx="27813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b="1" dirty="0">
                <a:solidFill>
                  <a:srgbClr val="FFFFFF"/>
                </a:solidFill>
              </a:rPr>
              <a:t>Excel + coordinated system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856EA04-4871-4EFC-AD7E-68E2A9F19AF0}"/>
              </a:ext>
            </a:extLst>
          </p:cNvPr>
          <p:cNvSpPr>
            <a:spLocks noGrp="1"/>
          </p:cNvSpPr>
          <p:nvPr/>
        </p:nvSpPr>
        <p:spPr>
          <a:xfrm>
            <a:off x="4572416" y="4541741"/>
            <a:ext cx="514350" cy="28575"/>
          </a:xfrm>
          <a:prstGeom prst="rect">
            <a:avLst/>
          </a:prstGeom>
          <a:solidFill>
            <a:srgbClr val="F2B84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A2762B9-7C57-4383-8FE0-F095F25C1196}"/>
              </a:ext>
            </a:extLst>
          </p:cNvPr>
          <p:cNvSpPr>
            <a:spLocks noGrp="1"/>
          </p:cNvSpPr>
          <p:nvPr/>
        </p:nvSpPr>
        <p:spPr>
          <a:xfrm>
            <a:off x="4572416" y="4651857"/>
            <a:ext cx="2952750" cy="15239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Institutional knowledge captured —not individual dependency</a:t>
            </a:r>
          </a:p>
          <a:p>
            <a:pPr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Drastically f</a:t>
            </a:r>
            <a:r>
              <a:rPr sz="1600" b="0" dirty="0">
                <a:solidFill>
                  <a:srgbClr val="C6D4E5"/>
                </a:solidFill>
              </a:rPr>
              <a:t>aster</a:t>
            </a:r>
            <a:r>
              <a:rPr lang="en-AU" sz="1600" b="0" dirty="0">
                <a:solidFill>
                  <a:srgbClr val="C6D4E5"/>
                </a:solidFill>
              </a:rPr>
              <a:t> per student</a:t>
            </a:r>
          </a:p>
          <a:p>
            <a:pPr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b="0" dirty="0">
                <a:solidFill>
                  <a:srgbClr val="C6D4E5"/>
                </a:solidFill>
              </a:rPr>
              <a:t>Better, informed decisions</a:t>
            </a:r>
          </a:p>
          <a:p>
            <a:pPr algn="l"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Errors almost eliminated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3C8E170-7AC8-4A40-BE25-118077E9B333}"/>
              </a:ext>
            </a:extLst>
          </p:cNvPr>
          <p:cNvSpPr>
            <a:spLocks noGrp="1"/>
          </p:cNvSpPr>
          <p:nvPr/>
        </p:nvSpPr>
        <p:spPr>
          <a:xfrm>
            <a:off x="8037230" y="2009113"/>
            <a:ext cx="3238500" cy="4166740"/>
          </a:xfrm>
          <a:prstGeom prst="roundRect">
            <a:avLst>
              <a:gd name="adj" fmla="val 2353"/>
            </a:avLst>
          </a:prstGeom>
          <a:solidFill>
            <a:srgbClr val="102239"/>
          </a:solidFill>
          <a:ln w="11430">
            <a:solidFill>
              <a:srgbClr val="29435F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5B66C-0342-4065-A9BC-3C2E8D23D4F1}"/>
              </a:ext>
            </a:extLst>
          </p:cNvPr>
          <p:cNvSpPr>
            <a:spLocks noGrp="1"/>
          </p:cNvSpPr>
          <p:nvPr/>
        </p:nvSpPr>
        <p:spPr>
          <a:xfrm>
            <a:off x="8037230" y="2009113"/>
            <a:ext cx="3238500" cy="76200"/>
          </a:xfrm>
          <a:prstGeom prst="rect">
            <a:avLst/>
          </a:prstGeom>
          <a:solidFill>
            <a:srgbClr val="35D2B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ACE3A1-6357-47A8-A55C-781E682A2B3E}"/>
              </a:ext>
            </a:extLst>
          </p:cNvPr>
          <p:cNvSpPr>
            <a:spLocks noGrp="1"/>
          </p:cNvSpPr>
          <p:nvPr/>
        </p:nvSpPr>
        <p:spPr>
          <a:xfrm>
            <a:off x="8305587" y="2136841"/>
            <a:ext cx="419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5D2B4"/>
                </a:solidFill>
              </a:defRPr>
            </a:pPr>
            <a:r>
              <a:rPr sz="2400" b="1">
                <a:solidFill>
                  <a:srgbClr val="35D2B4"/>
                </a:solidFill>
              </a:rPr>
              <a:t>03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D68D714-445D-47E6-9771-6DDF052C4DA2}"/>
              </a:ext>
            </a:extLst>
          </p:cNvPr>
          <p:cNvSpPr>
            <a:spLocks noGrp="1"/>
          </p:cNvSpPr>
          <p:nvPr/>
        </p:nvSpPr>
        <p:spPr>
          <a:xfrm>
            <a:off x="8781837" y="2165416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35D2B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4E4DDC-7B0D-4740-AD56-948D5BC7AEB4}"/>
              </a:ext>
            </a:extLst>
          </p:cNvPr>
          <p:cNvSpPr>
            <a:spLocks noGrp="1"/>
          </p:cNvSpPr>
          <p:nvPr/>
        </p:nvSpPr>
        <p:spPr>
          <a:xfrm>
            <a:off x="8872324" y="2177322"/>
            <a:ext cx="1147763" cy="47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1">
                <a:solidFill>
                  <a:srgbClr val="0B1220"/>
                </a:solidFill>
              </a:defRPr>
            </a:pPr>
            <a:r>
              <a:rPr lang="en-AU" sz="1600" b="1" dirty="0">
                <a:solidFill>
                  <a:srgbClr val="0B1220"/>
                </a:solidFill>
              </a:rPr>
              <a:t>AI Built</a:t>
            </a:r>
            <a:endParaRPr sz="1600" b="1" dirty="0">
              <a:solidFill>
                <a:srgbClr val="0B1220"/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7B42484-F2D0-457D-A5AE-22CB78BE695E}"/>
              </a:ext>
            </a:extLst>
          </p:cNvPr>
          <p:cNvSpPr>
            <a:spLocks noGrp="1"/>
          </p:cNvSpPr>
          <p:nvPr/>
        </p:nvSpPr>
        <p:spPr>
          <a:xfrm>
            <a:off x="10513295" y="2189173"/>
            <a:ext cx="552450" cy="552450"/>
          </a:xfrm>
          <a:prstGeom prst="ellipse">
            <a:avLst/>
          </a:prstGeom>
          <a:solidFill>
            <a:srgbClr val="E9FCF8"/>
          </a:solidFill>
          <a:ln w="19050">
            <a:solidFill>
              <a:srgbClr val="35D2B4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94E15EF-EDA3-41A2-9718-A3C2D1C5EBF4}"/>
              </a:ext>
            </a:extLst>
          </p:cNvPr>
          <p:cNvSpPr>
            <a:spLocks noGrp="1"/>
          </p:cNvSpPr>
          <p:nvPr/>
        </p:nvSpPr>
        <p:spPr>
          <a:xfrm>
            <a:off x="10599020" y="2174941"/>
            <a:ext cx="381000" cy="40893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35D2B4"/>
                </a:solidFill>
              </a:defRPr>
            </a:pPr>
            <a:r>
              <a:rPr sz="3200" b="1" dirty="0">
                <a:solidFill>
                  <a:srgbClr val="35D2B4"/>
                </a:solidFill>
              </a:rPr>
              <a:t>★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EB5EEC3-BB3F-4A45-BA58-7B2544F70168}"/>
              </a:ext>
            </a:extLst>
          </p:cNvPr>
          <p:cNvSpPr>
            <a:spLocks noGrp="1"/>
          </p:cNvSpPr>
          <p:nvPr/>
        </p:nvSpPr>
        <p:spPr>
          <a:xfrm>
            <a:off x="10360895" y="2809867"/>
            <a:ext cx="857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1">
                <a:solidFill>
                  <a:srgbClr val="35D2B4"/>
                </a:solidFill>
              </a:defRPr>
            </a:pPr>
            <a:r>
              <a:rPr sz="1600" b="1" dirty="0">
                <a:solidFill>
                  <a:srgbClr val="35D2B4"/>
                </a:solidFill>
              </a:rPr>
              <a:t>HAPPIEST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E734784-7400-4DE4-815C-528BF3266255}"/>
              </a:ext>
            </a:extLst>
          </p:cNvPr>
          <p:cNvSpPr>
            <a:spLocks noGrp="1"/>
          </p:cNvSpPr>
          <p:nvPr/>
        </p:nvSpPr>
        <p:spPr>
          <a:xfrm>
            <a:off x="8305587" y="2727391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071827"/>
          </a:solidFill>
          <a:ln w="14288">
            <a:solidFill>
              <a:srgbClr val="35D2B4"/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2603A9-38FB-45B1-86F0-0E23C3994267}"/>
              </a:ext>
            </a:extLst>
          </p:cNvPr>
          <p:cNvSpPr>
            <a:spLocks noGrp="1"/>
          </p:cNvSpPr>
          <p:nvPr/>
        </p:nvSpPr>
        <p:spPr>
          <a:xfrm>
            <a:off x="8400837" y="2822641"/>
            <a:ext cx="3238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35D2B4"/>
                </a:solidFill>
              </a:defRPr>
            </a:pPr>
            <a:r>
              <a:rPr sz="2400" b="1">
                <a:solidFill>
                  <a:srgbClr val="35D2B4"/>
                </a:solidFill>
              </a:rPr>
              <a:t>✦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83A327D-1444-4BCA-83E2-77CF5ED089E8}"/>
              </a:ext>
            </a:extLst>
          </p:cNvPr>
          <p:cNvSpPr>
            <a:spLocks noGrp="1"/>
          </p:cNvSpPr>
          <p:nvPr/>
        </p:nvSpPr>
        <p:spPr>
          <a:xfrm>
            <a:off x="8305587" y="3375091"/>
            <a:ext cx="27813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lang="en-AU" b="1" dirty="0">
                <a:solidFill>
                  <a:srgbClr val="FFFFFF"/>
                </a:solidFill>
              </a:rPr>
              <a:t>We</a:t>
            </a:r>
            <a:r>
              <a:rPr b="1" dirty="0">
                <a:solidFill>
                  <a:srgbClr val="FFFFFF"/>
                </a:solidFill>
              </a:rPr>
              <a:t>b</a:t>
            </a:r>
            <a:r>
              <a:rPr lang="en-AU" b="1" dirty="0">
                <a:solidFill>
                  <a:srgbClr val="FFFFFF"/>
                </a:solidFill>
              </a:rPr>
              <a:t> </a:t>
            </a:r>
            <a:r>
              <a:rPr b="1" dirty="0">
                <a:solidFill>
                  <a:srgbClr val="FFFFFF"/>
                </a:solidFill>
              </a:rPr>
              <a:t>site</a:t>
            </a:r>
            <a:r>
              <a:rPr lang="en-AU" b="1" dirty="0">
                <a:solidFill>
                  <a:srgbClr val="FFFFFF"/>
                </a:solidFill>
              </a:rPr>
              <a:t> with student interface</a:t>
            </a:r>
            <a:endParaRPr b="1" dirty="0">
              <a:solidFill>
                <a:srgbClr val="FFFFFF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35DD51-FE19-46ED-B99A-9D9BA3DEAED9}"/>
              </a:ext>
            </a:extLst>
          </p:cNvPr>
          <p:cNvSpPr>
            <a:spLocks noGrp="1"/>
          </p:cNvSpPr>
          <p:nvPr/>
        </p:nvSpPr>
        <p:spPr>
          <a:xfrm>
            <a:off x="8305587" y="3803327"/>
            <a:ext cx="514350" cy="28575"/>
          </a:xfrm>
          <a:prstGeom prst="rect">
            <a:avLst/>
          </a:prstGeom>
          <a:solidFill>
            <a:srgbClr val="35D2B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sz="24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8E3DF40-C7A9-4F24-B63D-524035905FC5}"/>
              </a:ext>
            </a:extLst>
          </p:cNvPr>
          <p:cNvSpPr>
            <a:spLocks noGrp="1"/>
          </p:cNvSpPr>
          <p:nvPr/>
        </p:nvSpPr>
        <p:spPr>
          <a:xfrm>
            <a:off x="8315112" y="3888790"/>
            <a:ext cx="2952750" cy="220607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More comprehensive error detection &amp; option messaging</a:t>
            </a:r>
          </a:p>
          <a:p>
            <a:pPr algn="l"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b="0" dirty="0">
                <a:solidFill>
                  <a:srgbClr val="C6D4E5"/>
                </a:solidFill>
              </a:rPr>
              <a:t>Informed student decision making</a:t>
            </a:r>
          </a:p>
          <a:p>
            <a:pPr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Rapid, personalised student communications</a:t>
            </a:r>
          </a:p>
          <a:p>
            <a:pPr>
              <a:spcAft>
                <a:spcPts val="600"/>
              </a:spcAft>
              <a:defRPr sz="1050" b="0">
                <a:solidFill>
                  <a:srgbClr val="C6D4E5"/>
                </a:solidFill>
              </a:defRPr>
            </a:pPr>
            <a:r>
              <a:rPr lang="en-AU" sz="1600" dirty="0">
                <a:solidFill>
                  <a:srgbClr val="C6D4E5"/>
                </a:solidFill>
              </a:rPr>
              <a:t>Institute/school  wide benefits in recruitment, retention, reputation, and staff satisfaction</a:t>
            </a:r>
            <a:endParaRPr sz="1600" b="0" dirty="0">
              <a:solidFill>
                <a:srgbClr val="C6D4E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2394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</TotalTime>
  <Words>160</Words>
  <Application>Microsoft Office PowerPoint</Application>
  <DocSecurity>0</DocSecurity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Antony Di Serio</cp:lastModifiedBy>
  <cp:revision>2</cp:revision>
  <dcterms:created xsi:type="dcterms:W3CDTF">2026-07-20T09:29:28Z</dcterms:created>
  <dcterms:modified xsi:type="dcterms:W3CDTF">2026-07-21T05:22:46Z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9aac885-8dad-4584-8bfd-7453160625f2_Enabled">
    <vt:lpwstr>true</vt:lpwstr>
  </property>
  <property fmtid="{D5CDD505-2E9C-101B-9397-08002B2CF9AE}" pid="3" name="MSIP_Label_29aac885-8dad-4584-8bfd-7453160625f2_SetDate">
    <vt:lpwstr>2026-07-20T10:01:49Z</vt:lpwstr>
  </property>
  <property fmtid="{D5CDD505-2E9C-101B-9397-08002B2CF9AE}" pid="4" name="MSIP_Label_29aac885-8dad-4584-8bfd-7453160625f2_Method">
    <vt:lpwstr>Standard</vt:lpwstr>
  </property>
  <property fmtid="{D5CDD505-2E9C-101B-9397-08002B2CF9AE}" pid="5" name="MSIP_Label_29aac885-8dad-4584-8bfd-7453160625f2_Name">
    <vt:lpwstr>OFFICIAL</vt:lpwstr>
  </property>
  <property fmtid="{D5CDD505-2E9C-101B-9397-08002B2CF9AE}" pid="6" name="MSIP_Label_29aac885-8dad-4584-8bfd-7453160625f2_SiteId">
    <vt:lpwstr>57cae833-7220-4008-8adb-e6904b0543f0</vt:lpwstr>
  </property>
  <property fmtid="{D5CDD505-2E9C-101B-9397-08002B2CF9AE}" pid="7" name="MSIP_Label_29aac885-8dad-4584-8bfd-7453160625f2_ActionId">
    <vt:lpwstr>d979cb0d-81f7-41dc-ba14-7b3fa1a78e43</vt:lpwstr>
  </property>
  <property fmtid="{D5CDD505-2E9C-101B-9397-08002B2CF9AE}" pid="8" name="MSIP_Label_29aac885-8dad-4584-8bfd-7453160625f2_ContentBits">
    <vt:lpwstr>0</vt:lpwstr>
  </property>
  <property fmtid="{D5CDD505-2E9C-101B-9397-08002B2CF9AE}" pid="9" name="MSIP_Label_29aac885-8dad-4584-8bfd-7453160625f2_Tag">
    <vt:lpwstr>10, 3, 0, 1</vt:lpwstr>
  </property>
</Properties>
</file>